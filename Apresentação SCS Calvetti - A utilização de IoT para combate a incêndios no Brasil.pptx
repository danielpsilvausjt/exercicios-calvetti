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8" r:id="rId7"/>
    <p:sldId id="262" r:id="rId8"/>
    <p:sldId id="267" r:id="rId9"/>
    <p:sldId id="263" r:id="rId10"/>
    <p:sldId id="266" r:id="rId11"/>
  </p:sldIdLst>
  <p:sldSz cx="18288000" cy="10287000"/>
  <p:notesSz cx="6858000" cy="9144000"/>
  <p:embeddedFontLst>
    <p:embeddedFont>
      <p:font typeface="Lato" panose="020F0502020204030203" pitchFamily="34" charset="0"/>
      <p:regular r:id="rId12"/>
    </p:embeddedFont>
    <p:embeddedFont>
      <p:font typeface="Lato Bold" panose="020F0502020204030203" charset="0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Bold" panose="00000800000000000000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9296400" y="860275"/>
            <a:ext cx="12112509" cy="8707633"/>
          </a:xfrm>
          <a:custGeom>
            <a:avLst/>
            <a:gdLst/>
            <a:ahLst/>
            <a:cxnLst/>
            <a:rect l="l" t="t" r="r" b="b"/>
            <a:pathLst>
              <a:path w="12112509" h="8707633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8665" y="823019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8665" y="2480518"/>
            <a:ext cx="11411477" cy="469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1"/>
              </a:lnSpc>
            </a:pPr>
            <a:r>
              <a:rPr lang="en-US" sz="681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 UTILIZAÇÃO DE INTERNET DAS COISAS (IOT) PARA COMBATE A INCÊNDIOS NO BRASIL</a:t>
            </a:r>
          </a:p>
          <a:p>
            <a:pPr algn="l">
              <a:lnSpc>
                <a:spcPts val="6611"/>
              </a:lnSpc>
            </a:pPr>
            <a:endParaRPr lang="en-US" sz="681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EA56373E-5E2D-2F77-1D05-5049117D5B4E}"/>
              </a:ext>
            </a:extLst>
          </p:cNvPr>
          <p:cNvSpPr txBox="1"/>
          <p:nvPr/>
        </p:nvSpPr>
        <p:spPr>
          <a:xfrm>
            <a:off x="1896669" y="882426"/>
            <a:ext cx="4535372" cy="43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INÍCIO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47505464-5BA5-C2B9-644C-A0BB3D4EF65F}"/>
              </a:ext>
            </a:extLst>
          </p:cNvPr>
          <p:cNvSpPr txBox="1"/>
          <p:nvPr/>
        </p:nvSpPr>
        <p:spPr>
          <a:xfrm>
            <a:off x="928665" y="6680858"/>
            <a:ext cx="9510735" cy="271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Acácio Ribeiro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Daniel Silva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Eduardo Peres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Matheus </a:t>
            </a:r>
            <a:r>
              <a:rPr lang="en-US" sz="2400" dirty="0" err="1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Bolato</a:t>
            </a:r>
            <a:endParaRPr lang="en-US" sz="24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Munir </a:t>
            </a:r>
            <a:r>
              <a:rPr lang="en-US" sz="2400" dirty="0" err="1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Ghneim</a:t>
            </a:r>
            <a:endParaRPr lang="en-US" sz="24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3875" y="0"/>
            <a:ext cx="6904125" cy="10287000"/>
            <a:chOff x="0" y="0"/>
            <a:chExt cx="950116" cy="1415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116" cy="1415652"/>
            </a:xfrm>
            <a:custGeom>
              <a:avLst/>
              <a:gdLst/>
              <a:ahLst/>
              <a:cxnLst/>
              <a:rect l="l" t="t" r="r" b="b"/>
              <a:pathLst>
                <a:path w="950116" h="1415652">
                  <a:moveTo>
                    <a:pt x="0" y="0"/>
                  </a:moveTo>
                  <a:lnTo>
                    <a:pt x="950116" y="0"/>
                  </a:lnTo>
                  <a:lnTo>
                    <a:pt x="950116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t="-9244" r="-8446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28700" y="0"/>
            <a:ext cx="15506700" cy="9867900"/>
            <a:chOff x="0" y="-38100"/>
            <a:chExt cx="3312549" cy="2181244"/>
          </a:xfrm>
        </p:grpSpPr>
        <p:sp>
          <p:nvSpPr>
            <p:cNvPr id="5" name="Freeform 5"/>
            <p:cNvSpPr/>
            <p:nvPr/>
          </p:nvSpPr>
          <p:spPr>
            <a:xfrm>
              <a:off x="0" y="54540"/>
              <a:ext cx="3312549" cy="208860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6626729" flipH="1">
            <a:off x="-8130685" y="1817905"/>
            <a:ext cx="12221289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71083" y="882809"/>
            <a:ext cx="8043479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1083" y="2011387"/>
            <a:ext cx="13397517" cy="2574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	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urbanização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acelerada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crescente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densidade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populacional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cidades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trazem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consigo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desafios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complexos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segurança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pública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sendo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um dos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destrutivos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O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atingiu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comunidade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localizada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avenida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Pedro Bueno, no Campo Belo, zona Sul de São Paulo,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data 20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novembro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2025,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foi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inspirou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criação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desse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artigo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0FBF28A-0681-EE27-863F-EFE0E2C8F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239" y="4459284"/>
            <a:ext cx="7536015" cy="501652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E2C1CD8A-0EA1-0952-74C3-C27A81EB497F}"/>
              </a:ext>
            </a:extLst>
          </p:cNvPr>
          <p:cNvSpPr txBox="1"/>
          <p:nvPr/>
        </p:nvSpPr>
        <p:spPr>
          <a:xfrm>
            <a:off x="2017916" y="9071692"/>
            <a:ext cx="34994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Fonte: CNN Brasil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2654533" y="4775164"/>
            <a:ext cx="8784150" cy="681625"/>
            <a:chOff x="0" y="0"/>
            <a:chExt cx="2299023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9023" cy="179523"/>
            </a:xfrm>
            <a:custGeom>
              <a:avLst/>
              <a:gdLst/>
              <a:ahLst/>
              <a:cxnLst/>
              <a:rect l="l" t="t" r="r" b="b"/>
              <a:pathLst>
                <a:path w="2299023" h="1795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818008" y="893784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18008" y="389756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18008" y="6871869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8361880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435729">
            <a:off x="-1873763" y="-3484739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741852" y="893784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Causa dos </a:t>
            </a:r>
            <a:r>
              <a:rPr lang="en-US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Incêndios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31220" y="1334299"/>
            <a:ext cx="9528080" cy="2552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causas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no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Brasil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predominantemente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antrópicas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ou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seja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com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90% a 99% dos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casos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originados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atividades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humanas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intencionais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ou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acidentais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Só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2024,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ouve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270 mil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focos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5761554"/>
            <a:ext cx="5853180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FUNDAMENDAMENTAÇÃO TEÓRICA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1852" y="3875901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Consequência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dos </a:t>
            </a:r>
            <a:r>
              <a:rPr lang="en-US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Incêndios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1218" y="4320848"/>
            <a:ext cx="9517447" cy="2552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consequências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dos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devastadoras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afetam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as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esferas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social,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econômica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ambiental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com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impactos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imediatos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longo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prazo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O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impacto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trágico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é 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morte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pessoas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animais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além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ferimentos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graves,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queimaduras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traumas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físicos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41852" y="6886297"/>
            <a:ext cx="519964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IOT para </a:t>
            </a:r>
            <a:r>
              <a:rPr lang="en-US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combate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de </a:t>
            </a:r>
            <a:r>
              <a:rPr lang="en-US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incêndios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31218" y="7398232"/>
            <a:ext cx="9517447" cy="1589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Sistemas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combate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baseados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IoT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integram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diversos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componentes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sensores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redes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fio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plataformas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análises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dados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utilizam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IA,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atuadores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alarmes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4954754" y="-4367129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29468" y="3419771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275249" y="3443432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665498" y="3419771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024125" y="3323350"/>
            <a:ext cx="1391141" cy="1403903"/>
          </a:xfrm>
          <a:custGeom>
            <a:avLst/>
            <a:gdLst/>
            <a:ahLst/>
            <a:cxnLst/>
            <a:rect l="l" t="t" r="r" b="b"/>
            <a:pathLst>
              <a:path w="1391141" h="1403903">
                <a:moveTo>
                  <a:pt x="0" y="0"/>
                </a:moveTo>
                <a:lnTo>
                  <a:pt x="1391141" y="0"/>
                </a:lnTo>
                <a:lnTo>
                  <a:pt x="1391141" y="1403903"/>
                </a:lnTo>
                <a:lnTo>
                  <a:pt x="0" y="1403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2164308" y="3323350"/>
            <a:ext cx="1370232" cy="1273071"/>
          </a:xfrm>
          <a:custGeom>
            <a:avLst/>
            <a:gdLst/>
            <a:ahLst/>
            <a:cxnLst/>
            <a:rect l="l" t="t" r="r" b="b"/>
            <a:pathLst>
              <a:path w="1370232" h="1273071">
                <a:moveTo>
                  <a:pt x="0" y="0"/>
                </a:moveTo>
                <a:lnTo>
                  <a:pt x="1370232" y="0"/>
                </a:lnTo>
                <a:lnTo>
                  <a:pt x="1370232" y="1273070"/>
                </a:lnTo>
                <a:lnTo>
                  <a:pt x="0" y="12730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992503" y="3323350"/>
            <a:ext cx="1273071" cy="1273071"/>
          </a:xfrm>
          <a:custGeom>
            <a:avLst/>
            <a:gdLst/>
            <a:ahLst/>
            <a:cxnLst/>
            <a:rect l="l" t="t" r="r" b="b"/>
            <a:pathLst>
              <a:path w="1273071" h="1273071">
                <a:moveTo>
                  <a:pt x="0" y="0"/>
                </a:moveTo>
                <a:lnTo>
                  <a:pt x="1273071" y="0"/>
                </a:lnTo>
                <a:lnTo>
                  <a:pt x="1273071" y="1273070"/>
                </a:lnTo>
                <a:lnTo>
                  <a:pt x="0" y="1273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29468" y="4923903"/>
            <a:ext cx="4733925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Revisão</a:t>
            </a:r>
            <a:r>
              <a:rPr lang="en-US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499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literária</a:t>
            </a:r>
            <a:endParaRPr lang="en-US" sz="2499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29468" y="5718065"/>
            <a:ext cx="4733925" cy="310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Estudo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aplicação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da IOT. 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tecnologias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relacionadas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Funcionamento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IAs 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máquinas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sistematizadas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(drones) .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38056" y="1019175"/>
            <a:ext cx="807264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75249" y="4947564"/>
            <a:ext cx="4733925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Análise</a:t>
            </a:r>
            <a:r>
              <a:rPr lang="en-US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499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de Casos</a:t>
            </a:r>
            <a:endParaRPr lang="en-US" sz="2499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75249" y="5741726"/>
            <a:ext cx="4733925" cy="310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Análise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projetos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tiveram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eficácia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mitigação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do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Relacionamento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entre 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humanização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sistematização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65498" y="4990896"/>
            <a:ext cx="473359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Analise Regional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65498" y="5785058"/>
            <a:ext cx="4733593" cy="199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Estudo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Paises com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uso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tecnologias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segurança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Aplicabilidade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prática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indent="-342900" algn="l">
              <a:lnSpc>
                <a:spcPts val="2940"/>
              </a:lnSpc>
              <a:buFontTx/>
              <a:buChar char="-"/>
            </a:pPr>
            <a:endParaRPr lang="en-US" sz="21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1414" y="1920068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7430" y="1257625"/>
            <a:ext cx="7945780" cy="839660"/>
            <a:chOff x="0" y="0"/>
            <a:chExt cx="1797245" cy="2211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7430" y="2427275"/>
            <a:ext cx="8047480" cy="7473049"/>
            <a:chOff x="0" y="0"/>
            <a:chExt cx="1797245" cy="1861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825419" y="1444288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143999" y="747182"/>
            <a:ext cx="8536569" cy="839660"/>
            <a:chOff x="0" y="0"/>
            <a:chExt cx="1797245" cy="2211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11136" y="1876089"/>
            <a:ext cx="8536569" cy="8024236"/>
            <a:chOff x="0" y="0"/>
            <a:chExt cx="1797245" cy="18611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FD944"/>
            </a:solidFill>
            <a:ln w="38100" cap="sq">
              <a:solidFill>
                <a:srgbClr val="FFD944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986248" y="774046"/>
            <a:ext cx="446341" cy="457200"/>
          </a:xfrm>
          <a:custGeom>
            <a:avLst/>
            <a:gdLst/>
            <a:ahLst/>
            <a:cxnLst/>
            <a:rect l="l" t="t" r="r" b="b"/>
            <a:pathLst>
              <a:path w="446341" h="457200">
                <a:moveTo>
                  <a:pt x="0" y="0"/>
                </a:moveTo>
                <a:lnTo>
                  <a:pt x="446341" y="0"/>
                </a:lnTo>
                <a:lnTo>
                  <a:pt x="44634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58314" y="1444288"/>
            <a:ext cx="385414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PREVENÇÃO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0660" y="2528399"/>
            <a:ext cx="8047481" cy="7594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Manter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equipamentos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instalações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elétricas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estado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Evitar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sobrecarga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tomadas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manter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ambientes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organizados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Armazenar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inflamáveis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seguros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longe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calor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Ter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cuidado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com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velas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fósforos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cigarros.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Manter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extintores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acessíveis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com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manutenção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adequada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Garantir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hidrantes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alarmes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detectores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funcionando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Sinalizar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rotas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fuga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manter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iluminação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emergência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Realizar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treinamentos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simulações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evacuação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-3010456" y="321792"/>
            <a:ext cx="1056374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SOLUÇÃO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48800" y="960002"/>
            <a:ext cx="5655704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IOT COMBATENDO OS INCÊNDIOS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D76490B-153A-22BB-A3C3-091A41E74A57}"/>
              </a:ext>
            </a:extLst>
          </p:cNvPr>
          <p:cNvSpPr txBox="1"/>
          <p:nvPr/>
        </p:nvSpPr>
        <p:spPr>
          <a:xfrm>
            <a:off x="9226205" y="2062036"/>
            <a:ext cx="8318993" cy="748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Imagens de satélite</a:t>
            </a:r>
            <a:r>
              <a:rPr lang="pt-BR" sz="2400" kern="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 redes de sensores, para coletar dados ambientais em tempo real e prever incêndios.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Sistemas avançados de alerta para notificar a população.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Sprinklers e canhões monitores automáticos combateriam o fogo em sua fase inicial.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Menos desperdício de água e danos desnecessários.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Espuma de combate a incêndios natural e biodegradável.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Alocação mais eficiente de recursos e equipe. 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Equipamentos para monitorar a saúde dos bombeiros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Equipamentos aéreos, robôs humanoides e cães-robôs, equipados com jatos d'água e extintores</a:t>
            </a:r>
            <a:endParaRPr lang="pt-BR" sz="2400" kern="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4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Drones de reconhecimento.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43D1B-58C5-8784-C020-14F84D9A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B1F2E8BA-FAB6-4857-53E5-B8668FA2D674}"/>
              </a:ext>
            </a:extLst>
          </p:cNvPr>
          <p:cNvGrpSpPr/>
          <p:nvPr/>
        </p:nvGrpSpPr>
        <p:grpSpPr>
          <a:xfrm>
            <a:off x="5638800" y="725085"/>
            <a:ext cx="8536569" cy="839660"/>
            <a:chOff x="0" y="0"/>
            <a:chExt cx="1797245" cy="22114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4160EC8-6B16-06EA-AE00-155886A3207D}"/>
                </a:ext>
              </a:extLst>
            </p:cNvPr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3803580-4274-F37C-B112-61CF049C38DE}"/>
                </a:ext>
              </a:extLst>
            </p:cNvPr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ED1D173-57C0-C81C-1A99-E8592BAA71B6}"/>
              </a:ext>
            </a:extLst>
          </p:cNvPr>
          <p:cNvGrpSpPr/>
          <p:nvPr/>
        </p:nvGrpSpPr>
        <p:grpSpPr>
          <a:xfrm>
            <a:off x="914400" y="1943101"/>
            <a:ext cx="16383000" cy="7763475"/>
            <a:chOff x="0" y="0"/>
            <a:chExt cx="1797245" cy="186115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A519CA8-DCD1-0E20-A093-8ED3F61232AB}"/>
                </a:ext>
              </a:extLst>
            </p:cNvPr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FD944"/>
            </a:solidFill>
            <a:ln w="38100" cap="sq">
              <a:solidFill>
                <a:srgbClr val="FFD944"/>
              </a:solidFill>
              <a:prstDash val="solid"/>
              <a:miter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A881111-DF20-1002-F2FD-F15BD5ACD24E}"/>
                </a:ext>
              </a:extLst>
            </p:cNvPr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FBD85444-C280-7A2F-E2E2-6C57FF83CECA}"/>
              </a:ext>
            </a:extLst>
          </p:cNvPr>
          <p:cNvSpPr/>
          <p:nvPr/>
        </p:nvSpPr>
        <p:spPr>
          <a:xfrm>
            <a:off x="13411201" y="912505"/>
            <a:ext cx="446341" cy="457200"/>
          </a:xfrm>
          <a:custGeom>
            <a:avLst/>
            <a:gdLst/>
            <a:ahLst/>
            <a:cxnLst/>
            <a:rect l="l" t="t" r="r" b="b"/>
            <a:pathLst>
              <a:path w="446341" h="457200">
                <a:moveTo>
                  <a:pt x="0" y="0"/>
                </a:moveTo>
                <a:lnTo>
                  <a:pt x="446341" y="0"/>
                </a:lnTo>
                <a:lnTo>
                  <a:pt x="446341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6CE2F6A-5086-0EFB-3985-09D920446771}"/>
              </a:ext>
            </a:extLst>
          </p:cNvPr>
          <p:cNvSpPr txBox="1"/>
          <p:nvPr/>
        </p:nvSpPr>
        <p:spPr>
          <a:xfrm>
            <a:off x="-2590800" y="787313"/>
            <a:ext cx="1056374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SOLUÇÃO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C45DB41-C592-7604-FBB1-36A512CC0312}"/>
              </a:ext>
            </a:extLst>
          </p:cNvPr>
          <p:cNvSpPr txBox="1"/>
          <p:nvPr/>
        </p:nvSpPr>
        <p:spPr>
          <a:xfrm>
            <a:off x="5943601" y="937905"/>
            <a:ext cx="5655704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IOT COMBATENDO OS INCÊNDIOS</a:t>
            </a:r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6EC84913-8DC6-1B55-B9A6-59B49E8BF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43" y="2170356"/>
            <a:ext cx="7790700" cy="3405496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9624A34F-54B5-28EB-97F9-CB52AC636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859" y="5777882"/>
            <a:ext cx="6223483" cy="3652658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C61A9156-322A-8769-6F9B-0B0FD6B4A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232" y="3693629"/>
            <a:ext cx="7131101" cy="5646496"/>
          </a:xfrm>
          <a:prstGeom prst="rect">
            <a:avLst/>
          </a:prstGeom>
        </p:spPr>
      </p:pic>
      <p:sp>
        <p:nvSpPr>
          <p:cNvPr id="47" name="CaixaDeTexto 46">
            <a:extLst>
              <a:ext uri="{FF2B5EF4-FFF2-40B4-BE49-F238E27FC236}">
                <a16:creationId xmlns:a16="http://schemas.microsoft.com/office/drawing/2014/main" id="{2ADFA69B-5A54-7069-3228-295D66CE0F07}"/>
              </a:ext>
            </a:extLst>
          </p:cNvPr>
          <p:cNvSpPr txBox="1"/>
          <p:nvPr/>
        </p:nvSpPr>
        <p:spPr>
          <a:xfrm>
            <a:off x="1264642" y="5745375"/>
            <a:ext cx="146452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Espuma</a:t>
            </a:r>
          </a:p>
          <a:p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Ecológica</a:t>
            </a:r>
          </a:p>
          <a:p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Japão</a:t>
            </a:r>
          </a:p>
          <a:p>
            <a:endParaRPr lang="pt-BR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pt-BR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pt-BR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pt-BR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BR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Fonte: </a:t>
            </a:r>
            <a:r>
              <a:rPr lang="pt-BR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Euronews</a:t>
            </a:r>
            <a:r>
              <a:rPr lang="pt-BR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(2022)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31A1EF1-4675-A366-998E-E915B62AA7F5}"/>
              </a:ext>
            </a:extLst>
          </p:cNvPr>
          <p:cNvSpPr txBox="1"/>
          <p:nvPr/>
        </p:nvSpPr>
        <p:spPr>
          <a:xfrm>
            <a:off x="9453232" y="2185524"/>
            <a:ext cx="71311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Equipamento aéreo e robô-cão apagando incêndio - China</a:t>
            </a:r>
            <a:endParaRPr lang="pt-BR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pt-BR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	            Fonte: </a:t>
            </a:r>
            <a:r>
              <a:rPr lang="pt-BR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Pplware</a:t>
            </a:r>
            <a:r>
              <a:rPr lang="pt-BR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(2025)</a:t>
            </a:r>
          </a:p>
        </p:txBody>
      </p:sp>
    </p:spTree>
    <p:extLst>
      <p:ext uri="{BB962C8B-B14F-4D97-AF65-F5344CB8AC3E}">
        <p14:creationId xmlns:p14="http://schemas.microsoft.com/office/powerpoint/2010/main" val="380415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">
            <a:extLst>
              <a:ext uri="{FF2B5EF4-FFF2-40B4-BE49-F238E27FC236}">
                <a16:creationId xmlns:a16="http://schemas.microsoft.com/office/drawing/2014/main" id="{A800BEF7-A540-9953-8BDD-E5A258A601FE}"/>
              </a:ext>
            </a:extLst>
          </p:cNvPr>
          <p:cNvGrpSpPr/>
          <p:nvPr/>
        </p:nvGrpSpPr>
        <p:grpSpPr>
          <a:xfrm>
            <a:off x="643418" y="706197"/>
            <a:ext cx="16845887" cy="984320"/>
            <a:chOff x="0" y="0"/>
            <a:chExt cx="1797245" cy="221145"/>
          </a:xfrm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AD414947-56CC-5145-8696-F29C62488D23}"/>
                </a:ext>
              </a:extLst>
            </p:cNvPr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43C7E06D-69B5-7047-069B-A7725542D215}"/>
                </a:ext>
              </a:extLst>
            </p:cNvPr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>
            <a:off x="2271414" y="1920068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30" name="Group 6">
            <a:extLst>
              <a:ext uri="{FF2B5EF4-FFF2-40B4-BE49-F238E27FC236}">
                <a16:creationId xmlns:a16="http://schemas.microsoft.com/office/drawing/2014/main" id="{C2EBC223-4671-A4AE-AA7E-96618E2F2F0D}"/>
              </a:ext>
            </a:extLst>
          </p:cNvPr>
          <p:cNvGrpSpPr/>
          <p:nvPr/>
        </p:nvGrpSpPr>
        <p:grpSpPr>
          <a:xfrm>
            <a:off x="9267313" y="2111418"/>
            <a:ext cx="8221992" cy="7380171"/>
            <a:chOff x="0" y="0"/>
            <a:chExt cx="1797245" cy="1861159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6A661076-9FF4-1996-6A08-D28E16901DB4}"/>
                </a:ext>
              </a:extLst>
            </p:cNvPr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24D7E82B-A510-F771-9635-E3BF44470EDF}"/>
                </a:ext>
              </a:extLst>
            </p:cNvPr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122A03A9-268E-4021-D7AF-26D56E281702}"/>
              </a:ext>
            </a:extLst>
          </p:cNvPr>
          <p:cNvGrpSpPr/>
          <p:nvPr/>
        </p:nvGrpSpPr>
        <p:grpSpPr>
          <a:xfrm>
            <a:off x="776819" y="2111419"/>
            <a:ext cx="7757581" cy="6446863"/>
            <a:chOff x="0" y="0"/>
            <a:chExt cx="1797245" cy="1861159"/>
          </a:xfrm>
        </p:grpSpPr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69BC6B82-83DC-CBDE-E7AB-2EE77454D429}"/>
                </a:ext>
              </a:extLst>
            </p:cNvPr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FD944"/>
            </a:solidFill>
            <a:ln w="38100" cap="sq">
              <a:solidFill>
                <a:srgbClr val="FFD944"/>
              </a:solidFill>
              <a:prstDash val="solid"/>
              <a:miter/>
            </a:ln>
          </p:spPr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2A19E4DE-9D9F-73F2-0110-1E0C6B1638DC}"/>
                </a:ext>
              </a:extLst>
            </p:cNvPr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2364" y="1192329"/>
            <a:ext cx="16972131" cy="9843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-2286000" y="898782"/>
            <a:ext cx="10563740" cy="70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694" y="1881034"/>
            <a:ext cx="7278506" cy="6452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l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74979" lvl="1" indent="-237490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Protege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patrimônios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valiosos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museus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capitais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biomas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 sz="24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</a:t>
            </a:r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onservando a flora e fauna locais e qualidade do ar</a:t>
            </a:r>
          </a:p>
          <a:p>
            <a:pPr marL="237489" lvl="1" algn="l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florestais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no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Brasil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geram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prejuízos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até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R$ 2,1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bilhões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(2024), o </a:t>
            </a:r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 que demonstra o potencial de economia com a prevenção eficiente.</a:t>
            </a:r>
          </a:p>
          <a:p>
            <a:pPr marL="237489" lvl="1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74979" lvl="1" indent="-237490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 mercado de IoT no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Brasil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potencial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movimentar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bilhões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reais.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9A929BD-8D9B-3C10-4C51-D1148B8F38E6}"/>
              </a:ext>
            </a:extLst>
          </p:cNvPr>
          <p:cNvSpPr txBox="1"/>
          <p:nvPr/>
        </p:nvSpPr>
        <p:spPr>
          <a:xfrm>
            <a:off x="9267313" y="2254136"/>
            <a:ext cx="7757581" cy="8050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79" lvl="1" indent="-237490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Investimentos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segurança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contra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impulsionam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setor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tecnológico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fortalece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startups,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empresas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nacionais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gera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empregos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qualificados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79" lvl="1" indent="-237490" algn="l">
              <a:lnSpc>
                <a:spcPct val="150000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Tecnologias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brasileiras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baixo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custo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estimulam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engajamento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comunitário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Agiliza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atendimentos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médicos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reforça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sensação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segurança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Reduz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mortes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feridos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emitir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alertas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rápidos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evacuação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segura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037215FE-B326-8E2A-15AD-826FC64F6BD4}"/>
              </a:ext>
            </a:extLst>
          </p:cNvPr>
          <p:cNvSpPr/>
          <p:nvPr/>
        </p:nvSpPr>
        <p:spPr>
          <a:xfrm>
            <a:off x="16796294" y="895699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51552-5E3B-A09C-7662-91BA502C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">
            <a:extLst>
              <a:ext uri="{FF2B5EF4-FFF2-40B4-BE49-F238E27FC236}">
                <a16:creationId xmlns:a16="http://schemas.microsoft.com/office/drawing/2014/main" id="{43F56C43-5D4C-8D16-4FEB-559EFEA5DFEC}"/>
              </a:ext>
            </a:extLst>
          </p:cNvPr>
          <p:cNvGrpSpPr/>
          <p:nvPr/>
        </p:nvGrpSpPr>
        <p:grpSpPr>
          <a:xfrm>
            <a:off x="643418" y="706197"/>
            <a:ext cx="16845887" cy="984320"/>
            <a:chOff x="0" y="0"/>
            <a:chExt cx="1797245" cy="221145"/>
          </a:xfrm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23B820E2-A0B8-5973-0734-C04ADEF5B82E}"/>
                </a:ext>
              </a:extLst>
            </p:cNvPr>
            <p:cNvSpPr/>
            <p:nvPr/>
          </p:nvSpPr>
          <p:spPr>
            <a:xfrm>
              <a:off x="0" y="0"/>
              <a:ext cx="1797245" cy="221145"/>
            </a:xfrm>
            <a:custGeom>
              <a:avLst/>
              <a:gdLst/>
              <a:ahLst/>
              <a:cxnLst/>
              <a:rect l="l" t="t" r="r" b="b"/>
              <a:pathLst>
                <a:path w="1797245" h="2211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5" name="TextBox 12">
              <a:extLst>
                <a:ext uri="{FF2B5EF4-FFF2-40B4-BE49-F238E27FC236}">
                  <a16:creationId xmlns:a16="http://schemas.microsoft.com/office/drawing/2014/main" id="{9A2E0793-5E99-33D0-8C10-3486F3EE0650}"/>
                </a:ext>
              </a:extLst>
            </p:cNvPr>
            <p:cNvSpPr txBox="1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846AB2E9-746C-CCB2-254E-79C417D49FBE}"/>
              </a:ext>
            </a:extLst>
          </p:cNvPr>
          <p:cNvSpPr/>
          <p:nvPr/>
        </p:nvSpPr>
        <p:spPr>
          <a:xfrm>
            <a:off x="2271414" y="1920068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30" name="Group 6">
            <a:extLst>
              <a:ext uri="{FF2B5EF4-FFF2-40B4-BE49-F238E27FC236}">
                <a16:creationId xmlns:a16="http://schemas.microsoft.com/office/drawing/2014/main" id="{12BE9878-6EDB-5D0F-7617-5EE6EB12E57B}"/>
              </a:ext>
            </a:extLst>
          </p:cNvPr>
          <p:cNvGrpSpPr/>
          <p:nvPr/>
        </p:nvGrpSpPr>
        <p:grpSpPr>
          <a:xfrm>
            <a:off x="718327" y="2093441"/>
            <a:ext cx="8221992" cy="7380171"/>
            <a:chOff x="0" y="0"/>
            <a:chExt cx="1797245" cy="1861159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52F978B-C195-EC34-4CE1-F10706B5DC74}"/>
                </a:ext>
              </a:extLst>
            </p:cNvPr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780BDAFE-6732-E28E-516F-4B723150DE57}"/>
                </a:ext>
              </a:extLst>
            </p:cNvPr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3E8F966C-3BDF-D51E-227E-421CC98E7F83}"/>
              </a:ext>
            </a:extLst>
          </p:cNvPr>
          <p:cNvGrpSpPr/>
          <p:nvPr/>
        </p:nvGrpSpPr>
        <p:grpSpPr>
          <a:xfrm>
            <a:off x="9549920" y="2150954"/>
            <a:ext cx="7757581" cy="6446863"/>
            <a:chOff x="0" y="0"/>
            <a:chExt cx="1797245" cy="1861159"/>
          </a:xfrm>
        </p:grpSpPr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1CA4D05D-9FC1-FE98-5312-2764CF6E6B5A}"/>
                </a:ext>
              </a:extLst>
            </p:cNvPr>
            <p:cNvSpPr/>
            <p:nvPr/>
          </p:nvSpPr>
          <p:spPr>
            <a:xfrm>
              <a:off x="0" y="0"/>
              <a:ext cx="1797245" cy="1861159"/>
            </a:xfrm>
            <a:custGeom>
              <a:avLst/>
              <a:gdLst/>
              <a:ahLst/>
              <a:cxnLst/>
              <a:rect l="l" t="t" r="r" b="b"/>
              <a:pathLst>
                <a:path w="1797245" h="1861159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1838469"/>
                  </a:lnTo>
                  <a:cubicBezTo>
                    <a:pt x="1797245" y="1851000"/>
                    <a:pt x="1787086" y="1861159"/>
                    <a:pt x="1774554" y="1861159"/>
                  </a:cubicBezTo>
                  <a:lnTo>
                    <a:pt x="22691" y="1861159"/>
                  </a:lnTo>
                  <a:cubicBezTo>
                    <a:pt x="10159" y="1861159"/>
                    <a:pt x="0" y="1851000"/>
                    <a:pt x="0" y="1838469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FD944"/>
            </a:solidFill>
            <a:ln w="38100" cap="sq">
              <a:solidFill>
                <a:srgbClr val="FFD944"/>
              </a:solidFill>
              <a:prstDash val="solid"/>
              <a:miter/>
            </a:ln>
          </p:spPr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9220D128-0F0D-C26E-4079-369EABCE9045}"/>
                </a:ext>
              </a:extLst>
            </p:cNvPr>
            <p:cNvSpPr txBox="1"/>
            <p:nvPr/>
          </p:nvSpPr>
          <p:spPr>
            <a:xfrm>
              <a:off x="0" y="-38100"/>
              <a:ext cx="1797245" cy="1899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31207EB-6810-060A-7CCB-DFF2B1EBC6EE}"/>
              </a:ext>
            </a:extLst>
          </p:cNvPr>
          <p:cNvSpPr txBox="1"/>
          <p:nvPr/>
        </p:nvSpPr>
        <p:spPr>
          <a:xfrm>
            <a:off x="662364" y="1192329"/>
            <a:ext cx="16972131" cy="9843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5AC2702-ACC6-79CA-1417-A4A7733A0EEF}"/>
              </a:ext>
            </a:extLst>
          </p:cNvPr>
          <p:cNvSpPr txBox="1"/>
          <p:nvPr/>
        </p:nvSpPr>
        <p:spPr>
          <a:xfrm>
            <a:off x="-2286000" y="898782"/>
            <a:ext cx="10563740" cy="70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VIABILIDADE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563CA89-9FA9-E6B8-306B-30223DDFB366}"/>
              </a:ext>
            </a:extLst>
          </p:cNvPr>
          <p:cNvSpPr txBox="1"/>
          <p:nvPr/>
        </p:nvSpPr>
        <p:spPr>
          <a:xfrm>
            <a:off x="952145" y="2198943"/>
            <a:ext cx="7278506" cy="6821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viabilidade é alta e promissora no Brasil embora enfrente desafios.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Investimento inicial significativo, mesmo utilizando tecnologias nacionais.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 implementação em larga escala tem a necessidade de uma rede robusta e de ampla cobertura, que é um desafio, especialmente em áreas rurais ou remotas do Brasil, onde a conectividade pode ser instável ou inexistente.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FC777F1-56E2-3802-0DCA-661596A5C0C3}"/>
              </a:ext>
            </a:extLst>
          </p:cNvPr>
          <p:cNvSpPr txBox="1"/>
          <p:nvPr/>
        </p:nvSpPr>
        <p:spPr>
          <a:xfrm>
            <a:off x="9267313" y="2254136"/>
            <a:ext cx="7757581" cy="1402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979" lvl="1" indent="-237490">
              <a:lnSpc>
                <a:spcPct val="150000"/>
              </a:lnSpc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</a:t>
            </a: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2E3E646C-0FC6-6895-8B36-8D65EA912D81}"/>
              </a:ext>
            </a:extLst>
          </p:cNvPr>
          <p:cNvSpPr/>
          <p:nvPr/>
        </p:nvSpPr>
        <p:spPr>
          <a:xfrm>
            <a:off x="16796294" y="895699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0D661A-3DBA-1484-E682-6E97B90942A9}"/>
              </a:ext>
            </a:extLst>
          </p:cNvPr>
          <p:cNvSpPr txBox="1"/>
          <p:nvPr/>
        </p:nvSpPr>
        <p:spPr>
          <a:xfrm>
            <a:off x="9549920" y="2662782"/>
            <a:ext cx="7474974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Dispositivos IoT são alvos potenciais para ataques cibernéticos se não forem implementados com protocolos de segurança adequados, o que pode comprometer a eficácia do sistema em um momento crítico.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A regulamentação específica para sistemas de prevenção e combate baseados em IoT ainda está em desenvolvimento </a:t>
            </a:r>
          </a:p>
        </p:txBody>
      </p:sp>
    </p:spTree>
    <p:extLst>
      <p:ext uri="{BB962C8B-B14F-4D97-AF65-F5344CB8AC3E}">
        <p14:creationId xmlns:p14="http://schemas.microsoft.com/office/powerpoint/2010/main" val="2700949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81579">
            <a:off x="11199066" y="124438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280473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96037" y="8607890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398680" y="1055914"/>
            <a:ext cx="8229600" cy="82296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14943" y="1173258"/>
            <a:ext cx="6529097" cy="65290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03551" y="1292338"/>
            <a:ext cx="4606904" cy="46069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1956" y="3007188"/>
            <a:ext cx="7896256" cy="6998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 IoT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torna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prevenção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o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combate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incêndios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eficientes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permitir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a coleta e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análise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dados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tempo real,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salvando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vidas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protegendo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patrimônios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Seu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avanço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depende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colaboração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governos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empresas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cidadãos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fortalecer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cidades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seguras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resilientes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Apesar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dos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benefícios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ainda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é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necessário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enfrentar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desafios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segurança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cibernética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padronização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das redes. No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geral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a IoT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representa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um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investimento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essencial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para a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infraestrutura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urbana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contribuindo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para um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futuro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seguro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3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todos</a:t>
            </a:r>
            <a:r>
              <a:rPr lang="en-US" sz="23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2940"/>
              </a:lnSpc>
            </a:pPr>
            <a:endParaRPr lang="en-US" sz="23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</a:pPr>
            <a:endParaRPr lang="en-US" sz="23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</a:pPr>
            <a:endParaRPr lang="en-US" sz="23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3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2975" y="1706421"/>
            <a:ext cx="588650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CONCLUSÃO</a:t>
            </a:r>
          </a:p>
        </p:txBody>
      </p:sp>
      <p:sp>
        <p:nvSpPr>
          <p:cNvPr id="16" name="TextBox 16"/>
          <p:cNvSpPr txBox="1"/>
          <p:nvPr/>
        </p:nvSpPr>
        <p:spPr>
          <a:xfrm rot="-1906815">
            <a:off x="13759396" y="7802731"/>
            <a:ext cx="3003910" cy="35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internet das coisas (IOT)</a:t>
            </a:r>
          </a:p>
        </p:txBody>
      </p:sp>
      <p:sp>
        <p:nvSpPr>
          <p:cNvPr id="17" name="TextBox 17"/>
          <p:cNvSpPr txBox="1"/>
          <p:nvPr/>
        </p:nvSpPr>
        <p:spPr>
          <a:xfrm rot="-1594631">
            <a:off x="12922190" y="6467278"/>
            <a:ext cx="2527026" cy="35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Cidades Inteligentes</a:t>
            </a:r>
          </a:p>
        </p:txBody>
      </p:sp>
      <p:sp>
        <p:nvSpPr>
          <p:cNvPr id="18" name="TextBox 18"/>
          <p:cNvSpPr txBox="1"/>
          <p:nvPr/>
        </p:nvSpPr>
        <p:spPr>
          <a:xfrm rot="-1277786">
            <a:off x="11697391" y="4505151"/>
            <a:ext cx="2815717" cy="755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Prevenção de desastres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2100837" flipH="1">
            <a:off x="9768283" y="1398889"/>
            <a:ext cx="8310061" cy="8781453"/>
          </a:xfrm>
          <a:custGeom>
            <a:avLst/>
            <a:gdLst/>
            <a:ahLst/>
            <a:cxnLst/>
            <a:rect l="l" t="t" r="r" b="b"/>
            <a:pathLst>
              <a:path w="8310061" h="8781453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r="-381" b="-186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8665" y="3213525"/>
            <a:ext cx="13168335" cy="1854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88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</a:t>
            </a:r>
            <a:r>
              <a:rPr lang="en-US" sz="88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pela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6669" y="882426"/>
            <a:ext cx="4535372" cy="43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FIM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A3BEF92-74E5-ECAF-821B-697265F23541}"/>
              </a:ext>
            </a:extLst>
          </p:cNvPr>
          <p:cNvSpPr txBox="1"/>
          <p:nvPr/>
        </p:nvSpPr>
        <p:spPr>
          <a:xfrm>
            <a:off x="893223" y="4811652"/>
            <a:ext cx="99308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atenção</a:t>
            </a:r>
            <a:r>
              <a:rPr lang="en-US" sz="88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!</a:t>
            </a:r>
            <a:endParaRPr lang="pt-BR" sz="8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835</Words>
  <Application>Microsoft Office PowerPoint</Application>
  <PresentationFormat>Personalizar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Lato</vt:lpstr>
      <vt:lpstr>Calibri</vt:lpstr>
      <vt:lpstr>Poppins</vt:lpstr>
      <vt:lpstr>Arial</vt:lpstr>
      <vt:lpstr>Poppins Bold</vt:lpstr>
      <vt:lpstr>Lato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conectividade e segurança</dc:title>
  <cp:lastModifiedBy>dan</cp:lastModifiedBy>
  <cp:revision>71</cp:revision>
  <dcterms:created xsi:type="dcterms:W3CDTF">2006-08-16T00:00:00Z</dcterms:created>
  <dcterms:modified xsi:type="dcterms:W3CDTF">2025-11-26T08:11:01Z</dcterms:modified>
  <dc:identifier>DAG5o3y7KOY</dc:identifier>
</cp:coreProperties>
</file>